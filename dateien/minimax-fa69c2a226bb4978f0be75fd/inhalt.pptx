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meisternrw.wordpress.com/2026/10/28/dachprojekt-weg-organisation-beschluss-bauzeit/" TargetMode="External"/><Relationship Id="rId3" Type="http://schemas.openxmlformats.org/officeDocument/2006/relationships/hyperlink" Target="https://holzundhaus.github.io/dachmeisternrw/dateien/minimax-fa69c2a226bb4978f0be75f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Dachprojekt in der WEG: So läuft es organisatorisch ab · Erklärende Präsentation</a:t>
            </a:r>
          </a:p>
        </p:txBody>
      </p:sp>
      <p:sp>
        <p:nvSpPr>
          <p:cNvPr id="3" name="Content Placeholder 2"/>
          <p:cNvSpPr>
            <a:spLocks noGrp="1"/>
          </p:cNvSpPr>
          <p:nvPr>
            <p:ph idx="1"/>
          </p:nvPr>
        </p:nvSpPr>
        <p:spPr/>
        <p:txBody>
          <a:bodyPr/>
          <a:lstStyle/>
          <a:p>
            <a:r>
              <a:t>Überblick: Ein Dachprojekt in einer Wohnungseigentümergemeinschaft ist ein gemeinschaftliches Vorhaben und betrifft nicht nur die technische Ausführung. Bevor ein Betrieb beauftragt wird, braucht die Gemeinschaft eine belastbare Informationsgrundlage, klare Beschlüsse und abgestimmte Abläufe für die Bauzeit. Der folgende Leitfaden beschreibt den organisatorischen Rahmen für ein Dachvorhaben, die Rolle der Versammlung, die Auswahl des Betriebs sowie die wichtigsten Punkte während der Arbeiten und bei der Abnahme. Er ersetzt keine Rechtsberatung und beurteilt nicht im Einzelfall, welche Beschlussmehrheit oder Gemeinschaftsordnung im konkreten 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Informationen sammeln und Vorhaben vorbereiten</a:t>
            </a:r>
          </a:p>
        </p:txBody>
      </p:sp>
      <p:sp>
        <p:nvSpPr>
          <p:cNvPr id="3" name="Content Placeholder 2"/>
          <p:cNvSpPr>
            <a:spLocks noGrp="1"/>
          </p:cNvSpPr>
          <p:nvPr>
            <p:ph idx="1"/>
          </p:nvPr>
        </p:nvSpPr>
        <p:spPr/>
        <p:txBody>
          <a:bodyPr/>
          <a:lstStyle/>
          <a:p>
            <a:pPr>
              <a:defRPr sz="1800"/>
            </a:pPr>
            <a:r>
              <a:t>Der Ausgangspunkt für ein Dachprojekt kann ein sichtbarer Schaden, ein Hinweis aus der Eigentümerversammlung oder ein Anlass aus der Verwaltung sein. In einer frühen Phase sollten die bekannten Schäden an Deckung, Anschlüssen und Entwässerung zusammengeführt werden. Ebenso wichtig sind Angaben zur Dachform, zur ungefählichen Fläche, zu bisherigen Arbeiten sowie zu Fragen der Dämmung oder einer späteren Nutzung des Dachraums. Diese Informationen helfen, das Vorhaben für die Versammlung greifbar zu machen und eine Bestandsaufnahme vorzubereiten. Die fachliche Bewertung des Dachaufbaus und möglicher Erneuerungsbedarf gehören dabei in die Hände 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Informationen sammeln und Vorhaben vorbereiten</a:t>
            </a:r>
          </a:p>
        </p:txBody>
      </p:sp>
      <p:sp>
        <p:nvSpPr>
          <p:cNvPr id="3" name="Content Placeholder 2"/>
          <p:cNvSpPr>
            <a:spLocks noGrp="1"/>
          </p:cNvSpPr>
          <p:nvPr>
            <p:ph idx="1"/>
          </p:nvPr>
        </p:nvSpPr>
        <p:spPr/>
        <p:txBody>
          <a:bodyPr/>
          <a:lstStyle/>
          <a:p>
            <a:pPr>
              <a:defRPr sz="1800"/>
            </a:pPr>
            <a:r>
              <a:t>on Fachbetrieben. Einen ausführlichen Einstieg in die fachlichen Fragen bietet die [Dachsanierung](https://www.dachmeister-nrw.de/dachsanierung/).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In der Eigentümerversammlung konkret beschließen</a:t>
            </a:r>
          </a:p>
        </p:txBody>
      </p:sp>
      <p:sp>
        <p:nvSpPr>
          <p:cNvPr id="3" name="Content Placeholder 2"/>
          <p:cNvSpPr>
            <a:spLocks noGrp="1"/>
          </p:cNvSpPr>
          <p:nvPr>
            <p:ph idx="1"/>
          </p:nvPr>
        </p:nvSpPr>
        <p:spPr/>
        <p:txBody>
          <a:bodyPr/>
          <a:lstStyle/>
          <a:p>
            <a:pPr>
              <a:defRPr sz="1800"/>
            </a:pPr>
            <a:r>
              <a:t>Über bauliche Veränderungen am gemeinschaftlichen Eigentum entscheiden die Eigentümer gemeinsam. Welche Mehrheit im Einzelfall erforderlich ist, hängt vom konkreten Vorhaben und von der jeweiligen Gemeinschaftsordnung ab; eine pauschale Aussage dazu wäre daher irreführend. Die Versammlung kann mehrere Punkte getrennt behandeln: die Beauftragung einer Bestandsaufnahme, die Festlegung des Leistungsumfangs, die Auswahl eines Betriebs, den Budgetrahmen sowie die Verteilung der Kosten nach Miteigentumsanteilen oder einer abweichenden Vereinbarung. Hilfreich sind konkrete Beschlüsse, aus denen Umfang, Zuständigkeiten und finanzieller Rahmen hervorg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In der Eigentümerversammlung konkret beschließen</a:t>
            </a:r>
          </a:p>
        </p:txBody>
      </p:sp>
      <p:sp>
        <p:nvSpPr>
          <p:cNvPr id="3" name="Content Placeholder 2"/>
          <p:cNvSpPr>
            <a:spLocks noGrp="1"/>
          </p:cNvSpPr>
          <p:nvPr>
            <p:ph idx="1"/>
          </p:nvPr>
        </p:nvSpPr>
        <p:spPr/>
        <p:txBody>
          <a:bodyPr/>
          <a:lstStyle/>
          <a:p>
            <a:pPr>
              <a:defRPr sz="1800"/>
            </a:pPr>
            <a:r>
              <a:t>ehen. Das Protokoll sollte die gefassten Entscheidungen nachvollziehbar abbilden und passende Anlagen enthalten.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Angebote vergleichen und den Betrieb beauftragen</a:t>
            </a:r>
          </a:p>
        </p:txBody>
      </p:sp>
      <p:sp>
        <p:nvSpPr>
          <p:cNvPr id="3" name="Content Placeholder 2"/>
          <p:cNvSpPr>
            <a:spLocks noGrp="1"/>
          </p:cNvSpPr>
          <p:nvPr>
            <p:ph idx="1"/>
          </p:nvPr>
        </p:nvSpPr>
        <p:spPr/>
        <p:txBody>
          <a:bodyPr/>
          <a:lstStyle/>
          <a:p>
            <a:pPr>
              <a:defRPr sz="1800"/>
            </a:pPr>
            <a:r>
              <a:t>Sobald der organisatorische Rahmen steht, sollten vergleichbare Angebote eingeholt werden. Entscheidend ist, dass die Leistungsbeschreibungen denselben Umfang abdecken. Dazu gehören beispielsweise Rückbau, Gerüst, Dämmung, neue Eindeckung und Anschlüsse. Unterschiedliche Angebote lassen sich nur sinnvoll vergleichen, wenn diese Bestandteile in ähnlicher Weise beschrieben sind. Bei umfangreichen Vorhaben kann es sinnvoll sein, vorab die Reihenfolge der Gewerke zu klären und die in Nordrhein-Westfalen seit dem 1. Januar 2026 geltende Solaranlagenpflicht bei einer vollständigen Erneuerung der Dachhaut zu prüfen, soweit sie einschlägig ist. Nach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Angebote vergleichen und den Betrieb beauftragen</a:t>
            </a:r>
          </a:p>
        </p:txBody>
      </p:sp>
      <p:sp>
        <p:nvSpPr>
          <p:cNvPr id="3" name="Content Placeholder 2"/>
          <p:cNvSpPr>
            <a:spLocks noGrp="1"/>
          </p:cNvSpPr>
          <p:nvPr>
            <p:ph idx="1"/>
          </p:nvPr>
        </p:nvSpPr>
        <p:spPr/>
        <p:txBody>
          <a:bodyPr/>
          <a:lstStyle/>
          <a:p>
            <a:pPr>
              <a:defRPr sz="1800"/>
            </a:pPr>
            <a:r>
              <a:t>der Beauftragung sollten feste Ansprechpartner, die Dokumentation von Befunden und der Umgang mit zusätzlichen Befunden während der Bauzeit geregelt sein. Die Organisation eines WEG-Dachprojekts ist im [Beitrag zur Organisation](https://dachmeisternrw.wordpress.com/2026/10/28/dachprojekt-weg-organisation-beschluss-bauzeit/) noch einmal kompakt beschrieben.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Bauzeit, Abnahme und Wartung organisieren</a:t>
            </a:r>
          </a:p>
        </p:txBody>
      </p:sp>
      <p:sp>
        <p:nvSpPr>
          <p:cNvPr id="3" name="Content Placeholder 2"/>
          <p:cNvSpPr>
            <a:spLocks noGrp="1"/>
          </p:cNvSpPr>
          <p:nvPr>
            <p:ph idx="1"/>
          </p:nvPr>
        </p:nvSpPr>
        <p:spPr/>
        <p:txBody>
          <a:bodyPr/>
          <a:lstStyle/>
          <a:p>
            <a:pPr>
              <a:defRPr sz="1800"/>
            </a:pPr>
            <a:r>
              <a:t>Während der Sanierung läuft die Arbeit in einer nachvollziehbaren Folge: Gerüststellung, Rückbau, Prüfung der freigelegten Schichten, Dämmung, neue Eindeckung, Anschlüsse und finally der Rückbau des Gerüsts. Für Eigentümer und Mieter sind dabei Zugang zum Dach, der Schutz von Innenräumen, Fenstern und Aufbauten sowie Informationen zu Lärm, Staub und Sperrungen important. Bei laufendem Rückbau kann ein provisorischer Wetterschutz erforderlich werden. Zeigt sich der Bestand anders als erwartet, muss geklärt sein, wer über kurzfristige Entscheidungen informiert und entscheidet. Nach Abschluss der Arbeiten folgt die Abnahme durch die Verwaltung 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Bauzeit, Abnahme und Wartung organisieren</a:t>
            </a:r>
          </a:p>
        </p:txBody>
      </p:sp>
      <p:sp>
        <p:nvSpPr>
          <p:cNvPr id="3" name="Content Placeholder 2"/>
          <p:cNvSpPr>
            <a:spLocks noGrp="1"/>
          </p:cNvSpPr>
          <p:nvPr>
            <p:ph idx="1"/>
          </p:nvPr>
        </p:nvSpPr>
        <p:spPr/>
        <p:txBody>
          <a:bodyPr/>
          <a:lstStyle/>
          <a:p>
            <a:pPr>
              <a:defRPr sz="1800"/>
            </a:pPr>
            <a:r>
              <a:t>der eine beauftragte Person. Dokumentation, Rechnungen und Restpunktelisten gehören in die Unterlagen der Gemeinschaft. Eine anschließende regelmäßige Dachwartung unterstützt dabei, spätere Befunde nachvollziehbar zu halten.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Dachprojekt in der WEG: So läuft es organisatorisch ab</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