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meisternrw/dachstuhl-holz-befund-sanierung/" TargetMode="External"/><Relationship Id="rId3" Type="http://schemas.openxmlformats.org/officeDocument/2006/relationships/hyperlink" Target="https://holzundhaus.github.io/dachmeisternrw/dateien/minimax-d2ca45d468c2d5e670d67e4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Dachstuhl-Holz richtig einordnen: wann nur Optik, wann Sanierung? · Erklärende Präsentation</a:t>
            </a:r>
          </a:p>
        </p:txBody>
      </p:sp>
      <p:sp>
        <p:nvSpPr>
          <p:cNvPr id="3" name="Content Placeholder 2"/>
          <p:cNvSpPr>
            <a:spLocks noGrp="1"/>
          </p:cNvSpPr>
          <p:nvPr>
            <p:ph idx="1"/>
          </p:nvPr>
        </p:nvSpPr>
        <p:spPr/>
        <p:txBody>
          <a:bodyPr/>
          <a:lstStyle/>
          <a:p>
            <a:r>
              <a:t>Überblick: Regenwasser belastet Carports und Terrassenüberdachungen stärker alsmany Bauherren erwarten: Tropfen können sich an Hölzern sammeln, in Verbindungen oder unter der Eindeckung stehen bleiben und dort langfristig Feuchte verursachen. Deshalb sollte nicht allein die sichtbare Verfärbung bewertet werden. Entscheidend ist, ob Holz feucht ist, ob die Holzstruktur geschädigt wurde und ob die Wasserführung funktioniert. Der folgende Leitfaden zeigt, wie sich typische Befunde einordnen lassen und wann eine Wartung, eine örtliche Reparatur oder eine umfassendere Sanierung sinnvoll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am Carport: Wo Feuchte entstehen kann</a:t>
            </a:r>
          </a:p>
        </p:txBody>
      </p:sp>
      <p:sp>
        <p:nvSpPr>
          <p:cNvPr id="3" name="Content Placeholder 2"/>
          <p:cNvSpPr>
            <a:spLocks noGrp="1"/>
          </p:cNvSpPr>
          <p:nvPr>
            <p:ph idx="1"/>
          </p:nvPr>
        </p:nvSpPr>
        <p:spPr/>
        <p:txBody>
          <a:bodyPr/>
          <a:lstStyle/>
          <a:p>
            <a:pPr>
              <a:defRPr sz="1800"/>
            </a:pPr>
            <a:r>
              <a:t>Bei einem Carport ist die ableitbare Fläche häufig größer als die tatsächlich überdachte Fläche. Regen kann daher seitlich auf Hölzer, Pfosten und connections gelangen. Besonders kritisch sind Stellen, an denen Wasser von oben zuströmt, sich an einem Bauteil sammelt oder über längere Zeit nicht abtrocknen kann. Auch die Nähe zur Erdoberfläche spielt eine Rolle: Aufspritzendes Wasser und feuchte Erde können den unteren Bereich eines Pfostens belasten. Für die Planung einer neuen oder überarbeiteten Anlage sind deshalb die Lage der Pfosten, das Gefälle der Fläche, Anschlüsse an der Eindeckung und die vorhandenen Ablaufwege gemeinsam zu betracht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am Carport: Wo Feuchte entstehen kann</a:t>
            </a:r>
          </a:p>
        </p:txBody>
      </p:sp>
      <p:sp>
        <p:nvSpPr>
          <p:cNvPr id="3" name="Content Placeholder 2"/>
          <p:cNvSpPr>
            <a:spLocks noGrp="1"/>
          </p:cNvSpPr>
          <p:nvPr>
            <p:ph idx="1"/>
          </p:nvPr>
        </p:nvSpPr>
        <p:spPr/>
        <p:txBody>
          <a:bodyPr/>
          <a:lstStyle/>
          <a:p>
            <a:pPr>
              <a:defRPr sz="1800"/>
            </a:pPr>
            <a:r>
              <a:t>en. Einzelne Tropfen müssen nicht sofort auf einen großen Schaden hindeuten; zeigen sie jedoch wiederholt an derselben Stelle, sollte der Ablauf geprüft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 an der Terrassenüberdachung richtig beurteilen</a:t>
            </a:r>
          </a:p>
        </p:txBody>
      </p:sp>
      <p:sp>
        <p:nvSpPr>
          <p:cNvPr id="3" name="Content Placeholder 2"/>
          <p:cNvSpPr>
            <a:spLocks noGrp="1"/>
          </p:cNvSpPr>
          <p:nvPr>
            <p:ph idx="1"/>
          </p:nvPr>
        </p:nvSpPr>
        <p:spPr/>
        <p:txBody>
          <a:bodyPr/>
          <a:lstStyle/>
          <a:p>
            <a:pPr>
              <a:defRPr sz="1800"/>
            </a:pPr>
            <a:r>
              <a:t>Verfärbungen an einer Terrassenüberdachung können durch wechselnde Holzfeuchte, Lichteinwirkung oder Kontakt mit metallischen Bauteilen entstehen. Solche Veränderungen sind zunächst nicht automatisch ein Sanierungsfall. Relevant werden sie, wenn zugleich Feuchte messbar ist, Wasser stehen bleibt oder im angrenzenden Bereich Schimmelanzeichen auftreten. Die Prüfung muss außerdem zeigen, ob die betroffenen Hölzer ihre Funktion als Träger, Pfosten oder Verbindung weiterhin erfüllen. Bewertet wird nicht nur die sichtbare Stelle, sondern der gesamte Aufbau. So kann ein unauffälliger Pfosten problemlos sein, während ein durchfeuchtetes Haupttragwer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 an der Terrassenüberdachung richtig beurteilen</a:t>
            </a:r>
          </a:p>
        </p:txBody>
      </p:sp>
      <p:sp>
        <p:nvSpPr>
          <p:cNvPr id="3" name="Content Placeholder 2"/>
          <p:cNvSpPr>
            <a:spLocks noGrp="1"/>
          </p:cNvSpPr>
          <p:nvPr>
            <p:ph idx="1"/>
          </p:nvPr>
        </p:nvSpPr>
        <p:spPr/>
        <p:txBody>
          <a:bodyPr/>
          <a:lstStyle/>
          <a:p>
            <a:pPr>
              <a:defRPr sz="1800"/>
            </a:pPr>
            <a:r>
              <a:t>k eine andere Entscheidung erfordert. Weitere Hinweise zu Regenwasser und Ausführung bietet die Orientierung zu Regenwasser am Carport und zur Terrassenüberdachung in Essen.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Pilze und Insekten von optischen Schäden unterscheiden</a:t>
            </a:r>
          </a:p>
        </p:txBody>
      </p:sp>
      <p:sp>
        <p:nvSpPr>
          <p:cNvPr id="3" name="Content Placeholder 2"/>
          <p:cNvSpPr>
            <a:spLocks noGrp="1"/>
          </p:cNvSpPr>
          <p:nvPr>
            <p:ph idx="1"/>
          </p:nvPr>
        </p:nvSpPr>
        <p:spPr/>
        <p:txBody>
          <a:bodyPr/>
          <a:lstStyle/>
          <a:p>
            <a:pPr>
              <a:defRPr sz="1800"/>
            </a:pPr>
            <a:r>
              <a:t>Aktiver Pilzbefall kann sich durch Fruchtkörper, watteartige Beläge oder eine veränderte Holzstruktur zeigen. Dann reicht eine reine Sichtkontrolle nicht aus, weil betroffenes Holz seine Tragfähigkeit verlieren kann. Gleiches gilt bei frischem Bohrmehl, kleinen Ausfluglöchern oder hörbarem Nagen als Hinweisen auf aktive Holzschadinsekten. Alte, trockene Befunde ohne frisches Mehl können dagegen inaktiv sein. Die Unterscheidung ist wichtig: Sie bestimmt, ob lediglich beobachtet und dokumentiert wird oder ob Maßnahmen am betroffenen Bauteil erforderlich sind. Eine sichere Diagnose gehört in eine Hand; eigenmächtige Probenahmen oder das Betreten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Pilze und Insekten von optischen Schäden unterscheiden</a:t>
            </a:r>
          </a:p>
        </p:txBody>
      </p:sp>
      <p:sp>
        <p:nvSpPr>
          <p:cNvPr id="3" name="Content Placeholder 2"/>
          <p:cNvSpPr>
            <a:spLocks noGrp="1"/>
          </p:cNvSpPr>
          <p:nvPr>
            <p:ph idx="1"/>
          </p:nvPr>
        </p:nvSpPr>
        <p:spPr/>
        <p:txBody>
          <a:bodyPr/>
          <a:lstStyle/>
          <a:p>
            <a:pPr>
              <a:defRPr sz="1800"/>
            </a:pPr>
            <a:r>
              <a:t> einer nicht dafür vorgesehenen Fläche erhöhen nur das Risiko.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Reparatur oder Sanierung: Die passende Stufe wählen</a:t>
            </a:r>
          </a:p>
        </p:txBody>
      </p:sp>
      <p:sp>
        <p:nvSpPr>
          <p:cNvPr id="3" name="Content Placeholder 2"/>
          <p:cNvSpPr>
            <a:spLocks noGrp="1"/>
          </p:cNvSpPr>
          <p:nvPr>
            <p:ph idx="1"/>
          </p:nvPr>
        </p:nvSpPr>
        <p:spPr/>
        <p:txBody>
          <a:bodyPr/>
          <a:lstStyle/>
          <a:p>
            <a:pPr>
              <a:defRPr sz="1800"/>
            </a:pPr>
            <a:r>
              <a:t>Wartung genügt, wenn Anzeichen trocken, lokalisiert und ohne messbare Feuchte sind. Eine dokumentierte Kontrolle im Rahmen der regelmäßigen Dachwartung kann dann ausreichen. Eine örtliche Reparatur kommt infrage, wenn nur ein klar begrenztes Holzbauteil betroffen ist, angrenzende Bauteile funktionsfähig bleiben und die Ursache – etwa eine undichte Verbindung oder eine ungünstige Wasserführung – nachvollziehbar behoben werden kann. Eine umfassendere Sanierung wird nötig, sobald mehrere Bauteile, größere Feuchteflächen oder die Tragfähigkeit betroffen sind. Dann wäre es unzureichend, lediglich die sichtbare Stelle zu schließen. Rückbau, Austaus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Reparatur oder Sanierung: Die passende Stufe wählen</a:t>
            </a:r>
          </a:p>
        </p:txBody>
      </p:sp>
      <p:sp>
        <p:nvSpPr>
          <p:cNvPr id="3" name="Content Placeholder 2"/>
          <p:cNvSpPr>
            <a:spLocks noGrp="1"/>
          </p:cNvSpPr>
          <p:nvPr>
            <p:ph idx="1"/>
          </p:nvPr>
        </p:nvSpPr>
        <p:spPr/>
        <p:txBody>
          <a:bodyPr/>
          <a:lstStyle/>
          <a:p>
            <a:pPr>
              <a:defRPr sz="1800"/>
            </a:pPr>
            <a:r>
              <a:t>ch und Ergänzung müssen zur vorhandenen Eindeckung passen und als zusammenhängender Ablauf geplant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Befund dokumentieren und den nächsten Schritt festlegen</a:t>
            </a:r>
          </a:p>
        </p:txBody>
      </p:sp>
      <p:sp>
        <p:nvSpPr>
          <p:cNvPr id="3" name="Content Placeholder 2"/>
          <p:cNvSpPr>
            <a:spLocks noGrp="1"/>
          </p:cNvSpPr>
          <p:nvPr>
            <p:ph idx="1"/>
          </p:nvPr>
        </p:nvSpPr>
        <p:spPr/>
        <p:txBody>
          <a:bodyPr/>
          <a:lstStyle/>
          <a:p>
            <a:pPr>
              <a:defRPr sz="1800"/>
            </a:pPr>
            <a:r>
              <a:t>Fotos mit Ortsangabe, Größenabschätzung und Zeitpunkt der Beobachtung erleichtern die fachliche Beurteilung. Hilfreich ist außerdem eine kurze Beschreibung, ob die Stelle bei oder nach Regen feucht ist, ob Wasser sichtbar zufließt und ob sich das Bild verändert. Pauschale Empfehlungen zu Wirkstoffen oder bestimmten Holzschutzmaßnahmen lassen sich ohne Befund nicht geben. Sinnvoll ist stattdessen eine Reihenfolge: Zustand und Feuchte prüfen, Ursache klären, Funktionsumfang festlegen und anschließend die erforderlichen Arbeiten abstimmen. So bleibt die technische Entscheidung nachvollziehbar und das Carport beziehungsweise die Terrassenüberdach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Befund dokumentieren und den nächsten Schritt festlegen</a:t>
            </a:r>
          </a:p>
        </p:txBody>
      </p:sp>
      <p:sp>
        <p:nvSpPr>
          <p:cNvPr id="3" name="Content Placeholder 2"/>
          <p:cNvSpPr>
            <a:spLocks noGrp="1"/>
          </p:cNvSpPr>
          <p:nvPr>
            <p:ph idx="1"/>
          </p:nvPr>
        </p:nvSpPr>
        <p:spPr/>
        <p:txBody>
          <a:bodyPr/>
          <a:lstStyle/>
          <a:p>
            <a:pPr>
              <a:defRPr sz="1800"/>
            </a:pPr>
            <a:r>
              <a:t>ung auch bei wechselnden Wetterbedingungen funktionsfähig.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Dachstuhl-Holz richtig einordnen: wann nur Optik, wann Sanierung?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