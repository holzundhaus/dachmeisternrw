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meisternrw/dachgauben-planen-schritte/" TargetMode="External"/><Relationship Id="rId3" Type="http://schemas.openxmlformats.org/officeDocument/2006/relationships/hyperlink" Target="https://holzundhaus.github.io/dachmeisternrw/dateien/minimax-ba3a2c7cb8d6c93e8db1c61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Dachgauben planen: Schritte vor dem ersten Strich · Erklärende Präsentation</a:t>
            </a:r>
          </a:p>
        </p:txBody>
      </p:sp>
      <p:sp>
        <p:nvSpPr>
          <p:cNvPr id="3" name="Content Placeholder 2"/>
          <p:cNvSpPr>
            <a:spLocks noGrp="1"/>
          </p:cNvSpPr>
          <p:nvPr>
            <p:ph idx="1"/>
          </p:nvPr>
        </p:nvSpPr>
        <p:spPr/>
        <p:txBody>
          <a:bodyPr/>
          <a:lstStyle/>
          <a:p>
            <a:r>
              <a:t>Überblick: Eine Dachgaube verändert die vorhandene Dachkonstruktion deutlich stärker als der Einbau eines Dachfensters. Sie benötigt eigene Bauteile, belastet das Dach und schafft neue Anschlüsse zwischen Gaube, Dämmung, Luftdichtheit und Eindeckung. Der praxisnahe Leitfaden „Dachgauben planen: Schritte vor dem ersten Strich“ zeigt eine belastbare Reihenfolge: zuerst Zulässigkeit und Statik klären, anschließend Details und Ausführung planen und erst danach den Innenausbau beginnen. So lassen sich teure Überraschungen vermeiden und Angebote auf Grundlage vergleichbarer Unterlagen erstellen.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Unterlagen und baurechtliche Fragen klären</a:t>
            </a:r>
          </a:p>
        </p:txBody>
      </p:sp>
      <p:sp>
        <p:nvSpPr>
          <p:cNvPr id="3" name="Content Placeholder 2"/>
          <p:cNvSpPr>
            <a:spLocks noGrp="1"/>
          </p:cNvSpPr>
          <p:nvPr>
            <p:ph idx="1"/>
          </p:nvPr>
        </p:nvSpPr>
        <p:spPr/>
        <p:txBody>
          <a:bodyPr/>
          <a:lstStyle/>
          <a:p>
            <a:pPr>
              <a:defRPr sz="1800"/>
            </a:pPr>
            <a:r>
              <a:t>Bevor Maße oder Gestaltungsvarianten festgelegt werden, sollte die rechtliche Situation des konkreten Gebäudes geprüft werden. Dafür sind insbesondere der Bebauungsplan, die Umgebungsbebauung, mögliche Denkmalschutz- oder Erhaltungssatzungen sowie die Lage des Hauses relevant. Ob eine Genehmigung erforderlich ist, hängt vom Einzelfall ab. Eine fachliche Voranfrage sollte deshalb Baupläne, Schnitte und Ansichten, die Adresse und das Flurstück, die gewünschte Nutzung des Dachgeschosses sowie vorhandene Hinweise zum Denkmalschutz enthalten. Diese Angaben ersetzen keine behördliche oder planerische Prüfung, helfen aber dabei, den realistischen 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Unterlagen und baurechtliche Fragen klären</a:t>
            </a:r>
          </a:p>
        </p:txBody>
      </p:sp>
      <p:sp>
        <p:nvSpPr>
          <p:cNvPr id="3" name="Content Placeholder 2"/>
          <p:cNvSpPr>
            <a:spLocks noGrp="1"/>
          </p:cNvSpPr>
          <p:nvPr>
            <p:ph idx="1"/>
          </p:nvPr>
        </p:nvSpPr>
        <p:spPr/>
        <p:txBody>
          <a:bodyPr/>
          <a:lstStyle/>
          <a:p>
            <a:pPr>
              <a:defRPr sz="1800"/>
            </a:pPr>
            <a:r>
              <a:t>g früh zu erkennen.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Bestandsdach zuerst untersuchen</a:t>
            </a:r>
          </a:p>
        </p:txBody>
      </p:sp>
      <p:sp>
        <p:nvSpPr>
          <p:cNvPr id="3" name="Content Placeholder 2"/>
          <p:cNvSpPr>
            <a:spLocks noGrp="1"/>
          </p:cNvSpPr>
          <p:nvPr>
            <p:ph idx="1"/>
          </p:nvPr>
        </p:nvSpPr>
        <p:spPr/>
        <p:txBody>
          <a:bodyPr/>
          <a:lstStyle/>
          <a:p>
            <a:pPr>
              <a:defRPr sz="1800"/>
            </a:pPr>
            <a:r>
              <a:t>Eine Gaube bringt zusätzliche Lasten in das Dach ein. Häufig müssen Sparren durchtrennt oder Wechsel eingebaut werden, damit die neue Öffnung entsteht. Vor der Detailplanung ist deshalb eine statische Bewertung des vorhandenen Dachs erforderlich. Dabei werden unter anderem Sparrenabstände, Sparrenquerschnitte, Abstände der Bauteile, der Zustand des Holzes, erkennbare Verformungen und Feuchtefolgen sowie die Aufnahme und Weiterleitung zusätzlicher Lasten betrachtet. Erst wenn geklärt ist, welche Eingriffe die bestehende Konstruktion tragen kann, lassen sich Proportionen, Materialien und Ausführung sinnvoll diskutieren.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Luftdichtheit durchgehend Anschluss herstellen</a:t>
            </a:r>
          </a:p>
        </p:txBody>
      </p:sp>
      <p:sp>
        <p:nvSpPr>
          <p:cNvPr id="3" name="Content Placeholder 2"/>
          <p:cNvSpPr>
            <a:spLocks noGrp="1"/>
          </p:cNvSpPr>
          <p:nvPr>
            <p:ph idx="1"/>
          </p:nvPr>
        </p:nvSpPr>
        <p:spPr/>
        <p:txBody>
          <a:bodyPr/>
          <a:lstStyle/>
          <a:p>
            <a:pPr>
              <a:defRPr sz="1800"/>
            </a:pPr>
            <a:r>
              <a:t>Kritisch sind vor allem die Übergänge zwischen der neuen Gaube und dem bestehenden Dach. Betroffen sind der Wangenanschluss, die Sohlbank, die Stirnwand und das Gaubendach. An diesen Stellen müssen Dämmung, Dampfbremse und Luftdichtheitsebene fachgerecht angeschlossen oder durchlaufen werden. Eine neue Innenverkleidung allein reicht dafür nicht aus. Werden Lücken oder ungünstige Wärmebrücken übersehen, können später Feuchte- oder Tauwasserschäden entstehen. Deshalb sollten die Anschlussdetails bereits in der Planung berücksichtigt und nicht erst während des Innenausbaus nachgebessert werden. Die gewünschte Verbesserung des Wohnraums beginnt 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Luftdichtheit durchgehend Anschluss herstellen</a:t>
            </a:r>
          </a:p>
        </p:txBody>
      </p:sp>
      <p:sp>
        <p:nvSpPr>
          <p:cNvPr id="3" name="Content Placeholder 2"/>
          <p:cNvSpPr>
            <a:spLocks noGrp="1"/>
          </p:cNvSpPr>
          <p:nvPr>
            <p:ph idx="1"/>
          </p:nvPr>
        </p:nvSpPr>
        <p:spPr/>
        <p:txBody>
          <a:bodyPr/>
          <a:lstStyle/>
          <a:p>
            <a:pPr>
              <a:defRPr sz="1800"/>
            </a:pPr>
            <a:r>
              <a:t>it einer funktionierenden Gebäudehülle.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Eindeckung detailliert planen</a:t>
            </a:r>
          </a:p>
        </p:txBody>
      </p:sp>
      <p:sp>
        <p:nvSpPr>
          <p:cNvPr id="3" name="Content Placeholder 2"/>
          <p:cNvSpPr>
            <a:spLocks noGrp="1"/>
          </p:cNvSpPr>
          <p:nvPr>
            <p:ph idx="1"/>
          </p:nvPr>
        </p:nvSpPr>
        <p:spPr/>
        <p:txBody>
          <a:bodyPr/>
          <a:lstStyle/>
          <a:p>
            <a:pPr>
              <a:defRPr sz="1800"/>
            </a:pPr>
            <a:r>
              <a:t>Da die Gaube in der Regel unterhalb der eigentlichen Dachfläche liegt, trifft das dort ablaufende Wasser zuerst auf ihre Stirnseite. Eine fachgerechte Blechverwahrung an der oberen Stirnkante ist daher ebenso wichtig wie die Anschlüsse zwischen Gaubendach und Hauptdach. Auch die Eindeckung muss zur vorhandenen Dachneigung passen. Wird dieser Bereich als nebensächliche Ausführungsdetails behandelt, kann die Wetterbeanspruchung den Aufwand erhöhen. Bei der Planung sollten Deckung, Unterdeckung, Verwahrung und Anschluss deshalb als zusammenhängendes System betrachtet werden. Das ist ein zentraler Unterschied zum Dachfenstereinbau, bei dem deutli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Eindeckung detailliert planen</a:t>
            </a:r>
          </a:p>
        </p:txBody>
      </p:sp>
      <p:sp>
        <p:nvSpPr>
          <p:cNvPr id="3" name="Content Placeholder 2"/>
          <p:cNvSpPr>
            <a:spLocks noGrp="1"/>
          </p:cNvSpPr>
          <p:nvPr>
            <p:ph idx="1"/>
          </p:nvPr>
        </p:nvSpPr>
        <p:spPr/>
        <p:txBody>
          <a:bodyPr/>
          <a:lstStyle/>
          <a:p>
            <a:pPr>
              <a:defRPr sz="1800"/>
            </a:pPr>
            <a:r>
              <a:t>ch weniger Schnittstellen zwischen neuer Konstruktion und Bestand entstehen.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die Hülle, dann der Innenausbau</a:t>
            </a:r>
          </a:p>
        </p:txBody>
      </p:sp>
      <p:sp>
        <p:nvSpPr>
          <p:cNvPr id="3" name="Content Placeholder 2"/>
          <p:cNvSpPr>
            <a:spLocks noGrp="1"/>
          </p:cNvSpPr>
          <p:nvPr>
            <p:ph idx="1"/>
          </p:nvPr>
        </p:nvSpPr>
        <p:spPr/>
        <p:txBody>
          <a:bodyPr/>
          <a:lstStyle/>
          <a:p>
            <a:pPr>
              <a:defRPr sz="1800"/>
            </a:pPr>
            <a:r>
              <a:t>Ein sinnvoller Bauablauf trennt die Arbeiten an der Gebäudehülle vom anschließenden Innenausbau. Zunächst werden Deckung, Dämmung und Luftdichtheit hergestellt. Erst wenn diese Schichten vollständig und funktionsfähig sind, folgen Trockenbau, Elektrik und Bodenarbeiten. Diese Reihenfolge reduziert unnötige Rückbauten und verhindert, dass sichtbare Oberflächen vor Abschluss der technischen Arbeiten fertiggestellt werden. Für die weitere Vorbereitung bietet der kompakte Ablauf zur „Dachgauben-Planung“ eine Checkliste mit sinnvollen Unterlagen: Bestandspläne oder Dachmaße, eine Skizze oder ein Foto der gewünschten Position, Angaben zur Raumnutzu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die Hülle, dann der Innenausbau</a:t>
            </a:r>
          </a:p>
        </p:txBody>
      </p:sp>
      <p:sp>
        <p:nvSpPr>
          <p:cNvPr id="3" name="Content Placeholder 2"/>
          <p:cNvSpPr>
            <a:spLocks noGrp="1"/>
          </p:cNvSpPr>
          <p:nvPr>
            <p:ph idx="1"/>
          </p:nvPr>
        </p:nvSpPr>
        <p:spPr/>
        <p:txBody>
          <a:bodyPr/>
          <a:lstStyle/>
          <a:p>
            <a:pPr>
              <a:defRPr sz="1800"/>
            </a:pPr>
            <a:r>
              <a:t>ng, Informationen zu Schutz- und Planvorschriften sowie Zeitfenster und Zugangsmöglichkeiten. Strukturiert zusammengestellte Angaben erleichtern Rückfragen und ermöglichen vergleichbare Angebote.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Dachgauben planen: Schritte vor dem ersten Strich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